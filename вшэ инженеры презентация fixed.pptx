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49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809FA4-99B6-43AF-9B05-772A58F746D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8136BB8-3144-4E1B-BFEF-DAB37BC2F3B8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DBB4ECC-239D-4ED8-B051-24E1EC36A10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F067145-4F38-4DBE-AF5E-E7B230AE2FA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0665573-BDAA-4504-956E-85126F65E1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762D074-FA08-4254-A98E-1F51B7BC016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07C375B-080B-481D-A33A-CCD35C2796E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07C96A0-9A53-47E8-859C-4268C4A231C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25DBC56-8C07-4F1C-831F-04E929DB3C5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88B3A8-8CBE-47CC-9CB5-5C4D32D6006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41A639-7BC8-49B9-A909-01D1F312641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32BC217-D9E3-47DA-8F59-1F96DA69375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AC8EC98-8E98-41F1-9323-25D4563D844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23E94DB-EDE0-4FF1-B258-E62B1AA979A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F7F1F20-534E-45A4-9991-F4DD50A7079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DCCA5F7-F30F-47B4-A536-C0EF8B23549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AED0309-578C-45C7-B4D0-8CCE977EE59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B9EE813-C602-425A-9284-289704CAFB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30257BB-6895-4C36-9D7F-1E273C8C216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B4E78AE-6A20-4763-8FFE-BBA13687A66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671810-D36F-4630-A562-2E2ACDA7D72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89BC086-F19C-4EE7-BCD4-928FD7F3458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835B29F-7359-47F9-AAB3-2A11466F9D8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52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1C20488-887F-4135-9750-A928A8114299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>
            <a:alphaModFix amt="51000"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A095A2-F3A5-4445-BA2F-7598E4F2870A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>
            <a:alphaModFix amt="51000"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5CB808-1B67-41E7-BFAA-FDA3108357A0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nedaun-chestno/Attack-on-Vigenere-cipher/tree/nerdmad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415255" y="1140158"/>
            <a:ext cx="9143280" cy="1742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6666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strike="noStrike" spc="-1" dirty="0">
                <a:solidFill>
                  <a:schemeClr val="dk1"/>
                </a:solidFill>
                <a:latin typeface="Calibri Light"/>
              </a:rPr>
              <a:t>Атака на шифр </a:t>
            </a:r>
            <a:r>
              <a:rPr lang="ru-RU" sz="6000" b="0" strike="noStrike" spc="-1" dirty="0" err="1">
                <a:solidFill>
                  <a:schemeClr val="dk1"/>
                </a:solidFill>
                <a:latin typeface="Calibri Light"/>
              </a:rPr>
              <a:t>Виженера</a:t>
            </a:r>
            <a:r>
              <a:rPr lang="ru-RU" sz="6000" b="0" strike="noStrike" spc="-1" dirty="0">
                <a:solidFill>
                  <a:schemeClr val="dk1"/>
                </a:solidFill>
                <a:latin typeface="Calibri Light"/>
              </a:rPr>
              <a:t> при помощи метода </a:t>
            </a:r>
            <a:r>
              <a:rPr lang="ru-RU" sz="6000" b="0" strike="noStrike" spc="-1" dirty="0" err="1">
                <a:solidFill>
                  <a:schemeClr val="dk1"/>
                </a:solidFill>
                <a:latin typeface="Calibri Light"/>
              </a:rPr>
              <a:t>Касиски</a:t>
            </a:r>
            <a:endParaRPr lang="ru-RU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10320"/>
            <a:ext cx="9143280" cy="9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Государственное бюджетное общеобразовательное учреждение города Москвы «Школа № 64»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Прямоугольник 83"/>
          <p:cNvSpPr/>
          <p:nvPr/>
        </p:nvSpPr>
        <p:spPr>
          <a:xfrm>
            <a:off x="767520" y="2882198"/>
            <a:ext cx="9899640" cy="444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60000" algn="r" defTabSz="914400">
              <a:lnSpc>
                <a:spcPct val="150000"/>
              </a:lnSpc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Aptos"/>
              </a:rPr>
              <a:t>Участники</a:t>
            </a:r>
            <a:r>
              <a:rPr lang="en-US" sz="2000" b="0" strike="noStrike" spc="-1" dirty="0">
                <a:solidFill>
                  <a:schemeClr val="dk1"/>
                </a:solidFill>
                <a:latin typeface="Aptos"/>
              </a:rPr>
              <a:t>: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60000" algn="r" defTabSz="914400">
              <a:lnSpc>
                <a:spcPct val="150000"/>
              </a:lnSpc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Aptos"/>
              </a:rPr>
              <a:t>ученики 10 «А» класса ГБОУ Школа №64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60000" algn="r" defTabSz="914400">
              <a:lnSpc>
                <a:spcPct val="150000"/>
              </a:lnSpc>
              <a:spcBef>
                <a:spcPts val="10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Aptos"/>
              </a:rPr>
              <a:t>Кондаков Никита Дмитриевич и Мезенцев Аркадий Валерьевич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40000" algn="r" defTabSz="9144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0" strike="noStrike" spc="-1" dirty="0" smtClean="0">
                <a:solidFill>
                  <a:schemeClr val="dk1"/>
                </a:solidFill>
                <a:latin typeface="Aptos"/>
              </a:rPr>
              <a:t>Руководители</a:t>
            </a:r>
            <a:r>
              <a:rPr lang="en-US" sz="2000" b="0" strike="noStrike" spc="-1" dirty="0" smtClean="0">
                <a:solidFill>
                  <a:schemeClr val="dk1"/>
                </a:solidFill>
                <a:latin typeface="Aptos"/>
              </a:rPr>
              <a:t>: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40000" algn="r" defTabSz="9144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spc="-1" dirty="0" err="1">
                <a:solidFill>
                  <a:schemeClr val="dk1"/>
                </a:solidFill>
                <a:latin typeface="Aptos"/>
              </a:rPr>
              <a:t>П</a:t>
            </a:r>
            <a:r>
              <a:rPr lang="en-US" sz="2000" b="0" strike="noStrike" spc="-1" dirty="0" err="1" smtClean="0">
                <a:solidFill>
                  <a:schemeClr val="dk1"/>
                </a:solidFill>
                <a:latin typeface="Aptos"/>
              </a:rPr>
              <a:t>едагог</a:t>
            </a:r>
            <a:r>
              <a:rPr lang="ru-RU" sz="2000" b="0" strike="noStrike" spc="-1" dirty="0" smtClean="0">
                <a:solidFill>
                  <a:schemeClr val="dk1"/>
                </a:solidFill>
                <a:latin typeface="Aptos"/>
              </a:rPr>
              <a:t>и</a:t>
            </a:r>
            <a:r>
              <a:rPr lang="en-US" sz="2000" b="0" strike="noStrike" spc="-1" dirty="0" smtClean="0">
                <a:solidFill>
                  <a:schemeClr val="dk1"/>
                </a:solidFill>
                <a:latin typeface="Aptos"/>
              </a:rPr>
              <a:t> </a:t>
            </a:r>
            <a:r>
              <a:rPr lang="en-US" sz="2000" b="0" strike="noStrike" spc="-1" dirty="0">
                <a:solidFill>
                  <a:schemeClr val="dk1"/>
                </a:solidFill>
                <a:latin typeface="Aptos"/>
              </a:rPr>
              <a:t>ГБОУ </a:t>
            </a:r>
            <a:r>
              <a:rPr lang="en-US" sz="2000" b="0" strike="noStrike" spc="-1" dirty="0" err="1" smtClean="0">
                <a:solidFill>
                  <a:schemeClr val="dk1"/>
                </a:solidFill>
                <a:latin typeface="Aptos"/>
              </a:rPr>
              <a:t>Школ</a:t>
            </a:r>
            <a:r>
              <a:rPr lang="ru-RU" sz="2000" b="0" strike="noStrike" spc="-1" dirty="0" smtClean="0">
                <a:solidFill>
                  <a:schemeClr val="dk1"/>
                </a:solidFill>
                <a:latin typeface="Aptos"/>
              </a:rPr>
              <a:t>ы</a:t>
            </a:r>
            <a:r>
              <a:rPr lang="en-US" sz="2000" b="0" strike="noStrike" spc="-1" dirty="0" smtClean="0">
                <a:solidFill>
                  <a:schemeClr val="dk1"/>
                </a:solidFill>
                <a:latin typeface="Aptos"/>
              </a:rPr>
              <a:t> </a:t>
            </a:r>
            <a:r>
              <a:rPr lang="en-US" sz="2000" b="0" strike="noStrike" spc="-1" dirty="0">
                <a:solidFill>
                  <a:schemeClr val="dk1"/>
                </a:solidFill>
                <a:latin typeface="Aptos"/>
              </a:rPr>
              <a:t>№ 64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40000" algn="r" defTabSz="9144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chemeClr val="dk1"/>
                </a:solidFill>
                <a:latin typeface="Aptos"/>
              </a:rPr>
              <a:t>Лохина </a:t>
            </a:r>
            <a:r>
              <a:rPr lang="ru-RU" sz="2000" b="0" strike="noStrike" spc="-1" dirty="0" smtClean="0">
                <a:solidFill>
                  <a:schemeClr val="dk1"/>
                </a:solidFill>
                <a:latin typeface="Aptos"/>
              </a:rPr>
              <a:t>Е</a:t>
            </a:r>
            <a:r>
              <a:rPr lang="ru-RU" sz="2000" spc="-1" dirty="0" smtClean="0">
                <a:solidFill>
                  <a:schemeClr val="dk1"/>
                </a:solidFill>
                <a:latin typeface="Aptos"/>
              </a:rPr>
              <a:t>лена Александровна и Богданов Павел </a:t>
            </a:r>
            <a:r>
              <a:rPr lang="ru-RU" sz="2000" spc="-1" dirty="0">
                <a:solidFill>
                  <a:schemeClr val="dk1"/>
                </a:solidFill>
                <a:latin typeface="Aptos"/>
              </a:rPr>
              <a:t>Р</a:t>
            </a:r>
            <a:r>
              <a:rPr lang="ru-RU" sz="2000" spc="-1" dirty="0" smtClean="0">
                <a:solidFill>
                  <a:schemeClr val="dk1"/>
                </a:solidFill>
                <a:latin typeface="Aptos"/>
              </a:rPr>
              <a:t>оманович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540000" algn="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spc="-1" dirty="0">
                <a:solidFill>
                  <a:srgbClr val="000000"/>
                </a:solidFill>
                <a:latin typeface="Arial"/>
              </a:rPr>
              <a:t>Консультант от НИУ ВШЭ </a:t>
            </a:r>
            <a:r>
              <a:rPr lang="ru-RU" sz="2000" spc="-1" dirty="0" err="1">
                <a:solidFill>
                  <a:srgbClr val="000000"/>
                </a:solidFill>
                <a:latin typeface="Arial"/>
              </a:rPr>
              <a:t>Бубнова</a:t>
            </a:r>
            <a:r>
              <a:rPr lang="ru-RU" sz="2000" spc="-1" dirty="0">
                <a:solidFill>
                  <a:srgbClr val="000000"/>
                </a:solidFill>
                <a:latin typeface="Arial"/>
              </a:rPr>
              <a:t> Мария Андреевна 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5880" y="561240"/>
            <a:ext cx="572940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7000" b="0" strike="noStrike" spc="-1">
                <a:solidFill>
                  <a:schemeClr val="dk1"/>
                </a:solidFill>
                <a:latin typeface="Calibri Light"/>
              </a:rPr>
              <a:t>Актуальность</a:t>
            </a:r>
            <a:endParaRPr lang="ru-RU" sz="7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18840" y="2262239"/>
            <a:ext cx="11206800" cy="433106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Атака </a:t>
            </a:r>
            <a:r>
              <a:rPr lang="ru-RU" sz="3000" b="0" strike="noStrike" spc="-1" dirty="0" err="1">
                <a:solidFill>
                  <a:schemeClr val="dk1"/>
                </a:solidFill>
                <a:latin typeface="Calibri"/>
              </a:rPr>
              <a:t>Касиски</a:t>
            </a: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 подразумевает выяснение закономерности и расшифровку текста без ключа. Аналоги этой атаки применяются для </a:t>
            </a:r>
            <a:r>
              <a:rPr lang="ru-RU" sz="3000" b="0" strike="noStrike" spc="-1" dirty="0" err="1">
                <a:solidFill>
                  <a:schemeClr val="dk1"/>
                </a:solidFill>
                <a:latin typeface="Calibri"/>
              </a:rPr>
              <a:t>криптоанализа</a:t>
            </a: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 более сложных шифров, а также на олимпиадах для </a:t>
            </a:r>
            <a:r>
              <a:rPr lang="ru-RU" sz="3000" b="0" strike="noStrike" spc="-1" dirty="0" err="1">
                <a:solidFill>
                  <a:schemeClr val="dk1"/>
                </a:solidFill>
                <a:latin typeface="Calibri"/>
              </a:rPr>
              <a:t>криптоанализа</a:t>
            </a: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 вариаций шифра </a:t>
            </a:r>
            <a:r>
              <a:rPr lang="ru-RU" sz="3000" b="0" strike="noStrike" spc="-1" dirty="0" err="1">
                <a:solidFill>
                  <a:schemeClr val="dk1"/>
                </a:solidFill>
                <a:latin typeface="Calibri"/>
              </a:rPr>
              <a:t>Виженера</a:t>
            </a: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endParaRPr lang="ru-RU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504472" y="455874"/>
            <a:ext cx="6140236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strike="noStrike" spc="-1" dirty="0">
                <a:solidFill>
                  <a:schemeClr val="dk1"/>
                </a:solidFill>
                <a:latin typeface="Calibri Light"/>
              </a:rPr>
              <a:t>Цель и задачи</a:t>
            </a:r>
            <a:endParaRPr lang="ru-RU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60835" y="1780674"/>
            <a:ext cx="10514880" cy="484512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200" dirty="0"/>
              <a:t>Наша главная цель – разработка атаки </a:t>
            </a:r>
            <a:r>
              <a:rPr lang="ru-RU" sz="2200" dirty="0" err="1"/>
              <a:t>Касиски</a:t>
            </a:r>
            <a:r>
              <a:rPr lang="ru-RU" sz="2200" dirty="0"/>
              <a:t> для взлома </a:t>
            </a:r>
            <a:r>
              <a:rPr lang="ru-RU" sz="2200" dirty="0" err="1"/>
              <a:t>полиалфавитных</a:t>
            </a:r>
            <a:r>
              <a:rPr lang="ru-RU" sz="2200" dirty="0"/>
              <a:t> шифров.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Задачи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: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indent="-457200" defTabSz="914400">
              <a:lnSpc>
                <a:spcPct val="15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Написание алгоритма для шифрования текста методом Виженера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;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indent="-457200" defTabSz="914400">
              <a:lnSpc>
                <a:spcPct val="15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Написание алгоритма для метода Касиски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(нахождение длины ключа)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;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indent="-457200" defTabSz="914400">
              <a:lnSpc>
                <a:spcPct val="15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Написание алгоритма дешифрования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;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indent="-457200" defTabSz="914400">
              <a:lnSpc>
                <a:spcPct val="15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Размещение проекта на 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Github.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83880" y="7628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strike="noStrike" spc="-1">
                <a:solidFill>
                  <a:schemeClr val="dk1"/>
                </a:solidFill>
                <a:latin typeface="Calibri Light"/>
              </a:rPr>
              <a:t>Написание алгоритма для шифрования методом Виженера на 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C++</a:t>
            </a:r>
            <a:r>
              <a:rPr sz="4400"/>
              <a:t/>
            </a:r>
            <a:br>
              <a:rPr sz="4400"/>
            </a:b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77440" y="2088360"/>
            <a:ext cx="11036160" cy="491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При шифровании использовалась таблица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ASCII</a:t>
            </a: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. Сначала создавалась последовательность из повторяющегося кодового слова, потом для каждой буквы считается отступ в шифре Цезаря, и в соответствие с ним буква заменяется на соответственную. Таблица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ASCII</a:t>
            </a: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 используется для возможности выполнять действия с буквой в виде цифр, и потом по получившемуся значению получать зашифрованную букву. 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7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33520" y="2217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strike="noStrike" spc="-1">
                <a:solidFill>
                  <a:schemeClr val="dk1"/>
                </a:solidFill>
                <a:latin typeface="Calibri Light"/>
              </a:rPr>
              <a:t>Написание алгоритма дешифрования.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33520" y="1540080"/>
            <a:ext cx="11124360" cy="503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Для метода </a:t>
            </a:r>
            <a:r>
              <a:rPr lang="ru-RU" sz="2200" b="0" strike="noStrike" spc="-1" dirty="0" err="1">
                <a:solidFill>
                  <a:schemeClr val="dk1"/>
                </a:solidFill>
                <a:latin typeface="Calibri"/>
              </a:rPr>
              <a:t>Касиски</a:t>
            </a:r>
            <a:r>
              <a:rPr lang="ru-RU" sz="2200" b="0" strike="noStrike" spc="-1" dirty="0">
                <a:solidFill>
                  <a:schemeClr val="dk1"/>
                </a:solidFill>
                <a:latin typeface="Calibri"/>
              </a:rPr>
              <a:t> текст разбивается на комбинации по 3 символа (триграммы) и при нахождении одинаковых элементов анализируется расстояние между ними. В большинстве случаев НОД всех расстояний повторяющихся триграмм и является длиной ключа. Для нахождения возможных ключей следует разбить текст на части в таком порядке, что каждая часть шифруется только одним сдвигом. Для каждой части сравнить частоту появления каждой буквы со средней частотой появления буквы в обычном английском тексте. Наименьший квадрат разности этих величин, скорее всего, и будет являться буквой ключа. Данный процесс повторяется до тех пор, пока не найдется ключ. Дальше текст расшифровывается по этому ключу и выводится пользователю.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69641" y="577686"/>
            <a:ext cx="10514880" cy="208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7000" b="0" strike="noStrike" spc="-1" dirty="0">
                <a:latin typeface="Calibri Light"/>
              </a:rPr>
              <a:t>Размещение проекта на </a:t>
            </a:r>
            <a:r>
              <a:rPr lang="en-US" sz="7000" b="0" strike="noStrike" spc="-1" dirty="0">
                <a:latin typeface="Calibri Light"/>
              </a:rPr>
              <a:t>Github</a:t>
            </a:r>
            <a:r>
              <a:rPr lang="ru-RU" sz="7000" b="0" strike="noStrike" spc="-1" dirty="0">
                <a:latin typeface="Calibri Light"/>
              </a:rPr>
              <a:t>.</a:t>
            </a:r>
            <a:r>
              <a:rPr lang="en-US" sz="7000" b="0" strike="noStrike" spc="-1" dirty="0">
                <a:latin typeface="Calibri Light"/>
              </a:rPr>
              <a:t>com</a:t>
            </a:r>
            <a:endParaRPr lang="ru-RU" sz="7000" b="0" strike="noStrike" spc="-1" dirty="0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47500" y="3122280"/>
            <a:ext cx="11097000" cy="295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 defTabSz="914400">
              <a:lnSpc>
                <a:spcPct val="15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ru-RU" sz="3200" b="0" strike="noStrike" spc="-1" dirty="0">
                <a:solidFill>
                  <a:schemeClr val="dk1"/>
                </a:solidFill>
                <a:latin typeface="Calibri"/>
              </a:rPr>
              <a:t>Мы создали репозиторий 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“Attack-on-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Vigenere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-cipher” </a:t>
            </a:r>
            <a:r>
              <a:rPr lang="ru-RU" sz="3200" b="0" strike="noStrike" spc="-1" dirty="0">
                <a:solidFill>
                  <a:schemeClr val="dk1"/>
                </a:solidFill>
                <a:latin typeface="Calibri"/>
              </a:rPr>
              <a:t>и разместили там код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:</a:t>
            </a:r>
            <a:endParaRPr lang="ru-R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indent="-457200">
              <a:lnSpc>
                <a:spcPct val="15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3200" b="0" u="sng" strike="noStrike" spc="-1" dirty="0">
                <a:solidFill>
                  <a:schemeClr val="dk1"/>
                </a:solidFill>
                <a:uFillTx/>
                <a:latin typeface="Calibri"/>
                <a:hlinkClick r:id="rId2"/>
              </a:rPr>
              <a:t>https://github.com/Yanedaun-chestno/Attack-on-Vigenere-cipher/tree/nerdmad</a:t>
            </a:r>
            <a:endParaRPr lang="ru-RU" sz="3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2170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strike="noStrike" spc="-1">
                <a:solidFill>
                  <a:schemeClr val="dk1"/>
                </a:solidFill>
                <a:latin typeface="Calibri Light"/>
              </a:rPr>
              <a:t>Результаты работы и их проверка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84680" y="1541878"/>
            <a:ext cx="4972680" cy="479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9166" lnSpcReduction="10000"/>
          </a:bodyPr>
          <a:lstStyle/>
          <a:p>
            <a:pPr indent="0" defTabSz="914400">
              <a:lnSpc>
                <a:spcPct val="16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Мы создали алгоритм, который может кодировать текст шифром Виженера и расшифровывать его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,</a:t>
            </a: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 не имея ключа. Алгоритм проверен на больших осмысленных английских текстах, например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,</a:t>
            </a:r>
            <a:r>
              <a:rPr lang="ru-RU" sz="2800" b="0" strike="noStrike" spc="-1" dirty="0">
                <a:solidFill>
                  <a:schemeClr val="dk1"/>
                </a:solidFill>
                <a:latin typeface="Calibri"/>
              </a:rPr>
              <a:t> как на изображении.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Рисунок 4"/>
          <p:cNvPicPr/>
          <p:nvPr/>
        </p:nvPicPr>
        <p:blipFill>
          <a:blip r:embed="rId2"/>
          <a:stretch/>
        </p:blipFill>
        <p:spPr>
          <a:xfrm>
            <a:off x="5157360" y="1541879"/>
            <a:ext cx="7034640" cy="3410477"/>
          </a:xfrm>
          <a:prstGeom prst="rect">
            <a:avLst/>
          </a:prstGeom>
          <a:ln w="0">
            <a:noFill/>
          </a:ln>
        </p:spPr>
      </p:pic>
      <p:sp>
        <p:nvSpPr>
          <p:cNvPr id="98" name="TextBox 5"/>
          <p:cNvSpPr/>
          <p:nvPr/>
        </p:nvSpPr>
        <p:spPr>
          <a:xfrm>
            <a:off x="5322996" y="5316121"/>
            <a:ext cx="65005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dk1"/>
                </a:solidFill>
                <a:latin typeface="Calibri"/>
              </a:rPr>
              <a:t>Вывод текстов с возможными ключами после применения метода </a:t>
            </a:r>
            <a:r>
              <a:rPr lang="ru-RU" sz="1800" b="0" strike="noStrike" spc="-1" dirty="0" err="1">
                <a:solidFill>
                  <a:schemeClr val="dk1"/>
                </a:solidFill>
                <a:latin typeface="Calibri"/>
              </a:rPr>
              <a:t>Касиски</a:t>
            </a:r>
            <a:r>
              <a:rPr lang="ru-RU" sz="1800" b="0" strike="noStrike" spc="-1" dirty="0">
                <a:solidFill>
                  <a:schemeClr val="dk1"/>
                </a:solidFill>
                <a:latin typeface="Calibri"/>
              </a:rPr>
              <a:t> и частотного анализа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92880" y="548811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strike="noStrike" spc="-1" dirty="0">
                <a:solidFill>
                  <a:schemeClr val="dk1"/>
                </a:solidFill>
                <a:latin typeface="Calibri Light"/>
              </a:rPr>
              <a:t>Выводы о проделанной работе</a:t>
            </a:r>
            <a:endParaRPr lang="ru-RU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93180" y="2166219"/>
            <a:ext cx="10205640" cy="42336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742950" indent="-514350" defTabSz="914400">
              <a:lnSpc>
                <a:spcPct val="16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Освоена атака методом Касиски на полиалфавитный шифр</a:t>
            </a:r>
            <a:r>
              <a:rPr lang="en-US" sz="3000" b="0" strike="noStrike" spc="-1" dirty="0">
                <a:solidFill>
                  <a:schemeClr val="dk1"/>
                </a:solidFill>
                <a:latin typeface="Calibri"/>
              </a:rPr>
              <a:t>;</a:t>
            </a:r>
            <a:endParaRPr lang="ru-RU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742950" indent="-514350" defTabSz="914400">
              <a:lnSpc>
                <a:spcPct val="16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Получено понимание работы множества функций, методов анализа данных</a:t>
            </a:r>
            <a:r>
              <a:rPr lang="en-US" sz="3000" b="0" strike="noStrike" spc="-1" dirty="0">
                <a:solidFill>
                  <a:schemeClr val="dk1"/>
                </a:solidFill>
                <a:latin typeface="Calibri"/>
              </a:rPr>
              <a:t>;</a:t>
            </a:r>
            <a:endParaRPr lang="ru-RU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742950" indent="-514350" defTabSz="914400">
              <a:lnSpc>
                <a:spcPct val="160000"/>
              </a:lnSpc>
              <a:spcBef>
                <a:spcPts val="1001"/>
              </a:spcBef>
              <a:buFont typeface="+mj-lt"/>
              <a:buAutoNum type="arabicParenR"/>
              <a:tabLst>
                <a:tab pos="0" algn="l"/>
              </a:tabLst>
            </a:pPr>
            <a:r>
              <a:rPr lang="ru-RU" sz="3000" b="0" strike="noStrike" spc="-1" dirty="0">
                <a:solidFill>
                  <a:schemeClr val="dk1"/>
                </a:solidFill>
                <a:latin typeface="Calibri"/>
              </a:rPr>
              <a:t>Получен опыт работы с обработкой данных.</a:t>
            </a:r>
            <a:endParaRPr lang="ru-RU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38040" y="2625120"/>
            <a:ext cx="11515320" cy="13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8000" b="0" strike="noStrike" spc="-1">
                <a:solidFill>
                  <a:schemeClr val="dk1"/>
                </a:solidFill>
                <a:latin typeface="Calibri Light"/>
              </a:rPr>
              <a:t>Спасибо за внимание!!!</a:t>
            </a:r>
            <a:endParaRPr lang="ru-RU" sz="8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422</Words>
  <Application>Microsoft Office PowerPoint</Application>
  <PresentationFormat>Широкоэкранный</PresentationFormat>
  <Paragraphs>33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Тема Office</vt:lpstr>
      <vt:lpstr>Атака на шифр Виженера при помощи метода Касиски</vt:lpstr>
      <vt:lpstr>Актуальность</vt:lpstr>
      <vt:lpstr>Цель и задачи</vt:lpstr>
      <vt:lpstr>Написание алгоритма для шифрования методом Виженера на C++ </vt:lpstr>
      <vt:lpstr>Написание алгоритма дешифрования.</vt:lpstr>
      <vt:lpstr>Размещение проекта на Github.com</vt:lpstr>
      <vt:lpstr>Результаты работы и их проверка</vt:lpstr>
      <vt:lpstr>Выводы о проделанной работе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Атака на шифр Виженера при помощи метода Касиски</dc:title>
  <dc:subject/>
  <dc:creator>nikitakkondakov@rambler.ru</dc:creator>
  <dc:description/>
  <cp:lastModifiedBy>Nikita</cp:lastModifiedBy>
  <cp:revision>31</cp:revision>
  <dcterms:created xsi:type="dcterms:W3CDTF">2025-12-03T10:59:13Z</dcterms:created>
  <dcterms:modified xsi:type="dcterms:W3CDTF">2026-02-06T13:03:57Z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9</vt:i4>
  </property>
</Properties>
</file>